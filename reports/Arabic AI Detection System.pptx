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6" r:id="rId10"/>
    <p:sldId id="262" r:id="rId11"/>
    <p:sldId id="263" r:id="rId12"/>
    <p:sldId id="269" r:id="rId13"/>
    <p:sldId id="264" r:id="rId14"/>
    <p:sldId id="270" r:id="rId15"/>
  </p:sldIdLst>
  <p:sldSz cx="12192000" cy="6858000"/>
  <p:notesSz cx="6858000" cy="9144000"/>
  <p:embeddedFontLst>
    <p:embeddedFont>
      <p:font typeface="Lato" panose="020F0502020204030204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005571-C343-40C9-A8B3-CC07AD5BC659}">
  <a:tblStyle styleId="{EF005571-C343-40C9-A8B3-CC07AD5BC6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06CB470-5A6D-3281-7C31-C9450049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7104BD9C-F86A-99F5-930F-E74DA6939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BBFA10A8-EA84-69AF-B98C-3F7B5F28F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9081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FF91681-F021-D991-3765-BB8C073B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650E241-3B5B-712A-07FE-30F633BEAC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ED8EA28F-C3CB-7015-E9B0-BA57CB376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4133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C9A60CD6-74F8-071B-7A4E-4AA6D13E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EAD898F1-0D94-7AC1-5F4B-1CA24999A6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90F099EE-7755-4511-1E0D-23AFF8461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1667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E2E1958D-F507-CA9C-5C8F-067957B25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D764DD40-ABBF-D065-FC6F-2E96D79DE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C86C478D-1155-4E56-1E3D-49DB906BD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8641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40B4F78C-1CE8-B57C-E310-B49276BC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>
            <a:extLst>
              <a:ext uri="{FF2B5EF4-FFF2-40B4-BE49-F238E27FC236}">
                <a16:creationId xmlns:a16="http://schemas.microsoft.com/office/drawing/2014/main" id="{9897C000-9E6A-D3D0-530E-911B14A2E5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>
            <a:extLst>
              <a:ext uri="{FF2B5EF4-FFF2-40B4-BE49-F238E27FC236}">
                <a16:creationId xmlns:a16="http://schemas.microsoft.com/office/drawing/2014/main" id="{05DF9FDC-C5E1-E021-F73E-E9AF3E83C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190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8742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801242"/>
            <a:ext cx="11601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Arabic AI-Text Detection using Apache Spark  </a:t>
            </a:r>
            <a:endParaRPr lang="en-US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81805" y="5660750"/>
            <a:ext cx="11049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By: Abdulaziz Hasan </a:t>
            </a:r>
            <a:r>
              <a:rPr lang="en-US" sz="1600" dirty="0" err="1"/>
              <a:t>Aljohani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0062"/>
            <a:ext cx="5334000" cy="35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52499" y="2088207"/>
            <a:ext cx="997113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Developed a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scalable pipeline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distinguish human-written from AI-generated Arabic abstracts.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328094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Utilized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Apache Spark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distributed processing of massive text datasets.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52499" y="4202310"/>
            <a:ext cx="853562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Combined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TF-IDF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semantic vectors with custom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stylometric features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5076527"/>
            <a:ext cx="750324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Implemented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Stream Processing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simulation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dirty="0"/>
          </a:p>
        </p:txBody>
      </p:sp>
      <p:sp>
        <p:nvSpPr>
          <p:cNvPr id="101" name="Google Shape;101;p14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8820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809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0231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7652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9238"/>
            <a:ext cx="257175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3750" y="2719238"/>
            <a:ext cx="257175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43213"/>
            <a:ext cx="257175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3750" y="4043213"/>
            <a:ext cx="257175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286500" y="2367111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Sources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286500" y="2871936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samples generated using 4 state-of-the-art models: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6477000" y="3614334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Allam &amp; Jais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(Arabic Centric)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6477000" y="4102937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Llama &amp; OpenAI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(General Purpose)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Dataset</a:t>
            </a:r>
            <a:endParaRPr dirty="0"/>
          </a:p>
        </p:txBody>
      </p:sp>
      <p:sp>
        <p:nvSpPr>
          <p:cNvPr id="121" name="Google Shape;121;p15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>
          <a:extLst>
            <a:ext uri="{FF2B5EF4-FFF2-40B4-BE49-F238E27FC236}">
              <a16:creationId xmlns:a16="http://schemas.microsoft.com/office/drawing/2014/main" id="{C5D2BE27-869F-82F9-BEE3-D36C80085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>
            <a:extLst>
              <a:ext uri="{FF2B5EF4-FFF2-40B4-BE49-F238E27FC236}">
                <a16:creationId xmlns:a16="http://schemas.microsoft.com/office/drawing/2014/main" id="{3D0EEBCC-928B-F340-DA9A-4CC53D235F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A588C902-221B-5BBC-89E0-BD22C8DA8BB2}"/>
              </a:ext>
            </a:extLst>
          </p:cNvPr>
          <p:cNvSpPr txBox="1"/>
          <p:nvPr/>
        </p:nvSpPr>
        <p:spPr>
          <a:xfrm>
            <a:off x="495300" y="1745269"/>
            <a:ext cx="560070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dirty="0">
                <a:solidFill>
                  <a:srgbClr val="1E293B"/>
                </a:solidFill>
                <a:latin typeface="Poppins"/>
                <a:cs typeface="Poppins"/>
                <a:sym typeface="Poppins"/>
              </a:rPr>
              <a:t>Class Balance </a:t>
            </a:r>
            <a:endParaRPr lang="en-US" dirty="0"/>
          </a:p>
        </p:txBody>
      </p:sp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1ED9B456-C1ED-A8D2-9C99-0A93892AA1A7}"/>
              </a:ext>
            </a:extLst>
          </p:cNvPr>
          <p:cNvSpPr txBox="1"/>
          <p:nvPr/>
        </p:nvSpPr>
        <p:spPr>
          <a:xfrm>
            <a:off x="6286500" y="2871936"/>
            <a:ext cx="5334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Human 20%</a:t>
            </a: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80%</a:t>
            </a:r>
            <a:endParaRPr dirty="0"/>
          </a:p>
        </p:txBody>
      </p:sp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385AA797-718C-026D-A043-67DE67BC0569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Expletory Data Analysis</a:t>
            </a:r>
            <a:endParaRPr dirty="0"/>
          </a:p>
        </p:txBody>
      </p:sp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CD96ADC7-DBDE-3492-7C8D-FB84FC9FF6D3}"/>
              </a:ext>
            </a:extLst>
          </p:cNvPr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67DCCD-8263-CCD1-0CDB-011B0B7C7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57" y="2639648"/>
            <a:ext cx="5486875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1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>
          <a:extLst>
            <a:ext uri="{FF2B5EF4-FFF2-40B4-BE49-F238E27FC236}">
              <a16:creationId xmlns:a16="http://schemas.microsoft.com/office/drawing/2014/main" id="{844898F4-5DA5-9E4C-1B87-5E516931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>
            <a:extLst>
              <a:ext uri="{FF2B5EF4-FFF2-40B4-BE49-F238E27FC236}">
                <a16:creationId xmlns:a16="http://schemas.microsoft.com/office/drawing/2014/main" id="{F3D29E44-D7CC-0710-5AE5-785D721507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765C6BF9-0939-A5BC-E3F1-62F19D0CD761}"/>
              </a:ext>
            </a:extLst>
          </p:cNvPr>
          <p:cNvSpPr txBox="1"/>
          <p:nvPr/>
        </p:nvSpPr>
        <p:spPr>
          <a:xfrm>
            <a:off x="495300" y="1745269"/>
            <a:ext cx="560070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dirty="0">
                <a:solidFill>
                  <a:srgbClr val="1E293B"/>
                </a:solidFill>
                <a:latin typeface="Poppins"/>
                <a:cs typeface="Poppins"/>
                <a:sym typeface="Poppins"/>
              </a:rPr>
              <a:t>Top-25 Unigrams Across All Abstracts</a:t>
            </a:r>
            <a:endParaRPr lang="en-US" dirty="0"/>
          </a:p>
        </p:txBody>
      </p:sp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9D175A88-372C-4B2C-C8EA-3747265E6C71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Expletory Data Analysis</a:t>
            </a:r>
            <a:endParaRPr dirty="0"/>
          </a:p>
        </p:txBody>
      </p:sp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51B9A673-7656-A1B4-033B-4193141EF3B0}"/>
              </a:ext>
            </a:extLst>
          </p:cNvPr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972646-FF1D-257C-D3DB-EE22A86F3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594" y="1745269"/>
            <a:ext cx="7515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588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0062"/>
            <a:ext cx="5334000" cy="35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1980604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Arabic Text Cleaning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2409229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Normalization: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Unified Alef/Hamza and removed diacritics using </a:t>
            </a:r>
            <a:r>
              <a:rPr lang="en-US" sz="18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pyarabic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3283446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Stopwords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Broadcasted 701 Arabic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stopwords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efficient filtering.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4157662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Tokenization: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Segmented text into meaningful units, ignoring short tokens.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952500" y="5031878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Storage limitation: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Optimized via </a:t>
            </a:r>
            <a:r>
              <a:rPr lang="en-US" sz="18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Parquet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columnar format for Big Data.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Distributed Preprocessing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0922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8344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76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31878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0062"/>
            <a:ext cx="5334000" cy="35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2169886"/>
            <a:ext cx="560070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Stylometric Features 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586295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f011: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Ratio of long words (&gt;6 chars) to total words.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3246165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f034: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Physical line count analysis.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590550" y="4411889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Global Features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1143000" y="4656533"/>
            <a:ext cx="5334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TF-IDF: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4,096-dimensional semantic embedding capturing word importance across the corpus.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  <a:endParaRPr dirty="0"/>
          </a:p>
        </p:txBody>
      </p:sp>
      <p:sp>
        <p:nvSpPr>
          <p:cNvPr id="155" name="Google Shape;155;p17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" name="Google Shape;161;p18"/>
          <p:cNvGraphicFramePr/>
          <p:nvPr/>
        </p:nvGraphicFramePr>
        <p:xfrm>
          <a:off x="571500" y="2593627"/>
          <a:ext cx="11049000" cy="2114525"/>
        </p:xfrm>
        <a:graphic>
          <a:graphicData uri="http://schemas.openxmlformats.org/drawingml/2006/table">
            <a:tbl>
              <a:tblPr firstRow="1" bandRow="1">
                <a:noFill/>
                <a:tableStyleId>{EF005571-C343-40C9-A8B3-CC07AD5BC659}</a:tableStyleId>
              </a:tblPr>
              <a:tblGrid>
                <a:gridCol w="327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0.9435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0.9424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8.75s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Naive Bayes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0.8949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0.9009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0.6229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2.15s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0.8130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0.7310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0.9706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13.19s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2" name="Google Shape;162;p18"/>
          <p:cNvSpPr txBox="1"/>
          <p:nvPr/>
        </p:nvSpPr>
        <p:spPr>
          <a:xfrm>
            <a:off x="571500" y="489867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Insight: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Logistic Regression outperformed others, balancing precision and recall effectively.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3646140"/>
            <a:ext cx="327377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3845272" y="3646140"/>
            <a:ext cx="20460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891361" y="3646140"/>
            <a:ext cx="196423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855594" y="3646140"/>
            <a:ext cx="155495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9410551" y="3646140"/>
            <a:ext cx="22099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4170015"/>
            <a:ext cx="327377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845272" y="4170015"/>
            <a:ext cx="20460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91361" y="4170015"/>
            <a:ext cx="196423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855594" y="4170015"/>
            <a:ext cx="155495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9410551" y="4170015"/>
            <a:ext cx="22099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4693890"/>
            <a:ext cx="327377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845272" y="4693890"/>
            <a:ext cx="20460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891361" y="4693890"/>
            <a:ext cx="196423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855594" y="4693890"/>
            <a:ext cx="155495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9410551" y="4693890"/>
            <a:ext cx="22099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Batch Modeling Results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>
          <a:extLst>
            <a:ext uri="{FF2B5EF4-FFF2-40B4-BE49-F238E27FC236}">
              <a16:creationId xmlns:a16="http://schemas.microsoft.com/office/drawing/2014/main" id="{867401F4-2582-EED4-58FA-4950B2BD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>
            <a:extLst>
              <a:ext uri="{FF2B5EF4-FFF2-40B4-BE49-F238E27FC236}">
                <a16:creationId xmlns:a16="http://schemas.microsoft.com/office/drawing/2014/main" id="{FEA18AAE-1E6F-B456-9C98-D953DA6BBC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DBDF8F5C-BB77-46BB-18C0-7852475F812F}"/>
              </a:ext>
            </a:extLst>
          </p:cNvPr>
          <p:cNvSpPr txBox="1"/>
          <p:nvPr/>
        </p:nvSpPr>
        <p:spPr>
          <a:xfrm>
            <a:off x="571500" y="5605547"/>
            <a:ext cx="11049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shows high precision for AI detection (1619 correct vs. 34 false positives). It struggles more with false negatives (96 human samples misclassified as AI), indicating a slight bias towards the majority class, which is common in imbalanced datasets</a:t>
            </a:r>
            <a:endParaRPr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5B32E843-1A16-FD12-2533-51B87C74BD98}"/>
              </a:ext>
            </a:extLst>
          </p:cNvPr>
          <p:cNvSpPr/>
          <p:nvPr/>
        </p:nvSpPr>
        <p:spPr>
          <a:xfrm>
            <a:off x="571500" y="3646140"/>
            <a:ext cx="327377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FC926F1A-966B-4C61-D20C-7A0A6D8D6988}"/>
              </a:ext>
            </a:extLst>
          </p:cNvPr>
          <p:cNvSpPr/>
          <p:nvPr/>
        </p:nvSpPr>
        <p:spPr>
          <a:xfrm>
            <a:off x="3845272" y="3646140"/>
            <a:ext cx="20460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6415AAD7-D1A8-B73C-D994-6A0CE722E72A}"/>
              </a:ext>
            </a:extLst>
          </p:cNvPr>
          <p:cNvSpPr/>
          <p:nvPr/>
        </p:nvSpPr>
        <p:spPr>
          <a:xfrm>
            <a:off x="5891361" y="3646140"/>
            <a:ext cx="196423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F26EC0BE-A2D4-EC4E-E1E3-A24BE9C638B2}"/>
              </a:ext>
            </a:extLst>
          </p:cNvPr>
          <p:cNvSpPr/>
          <p:nvPr/>
        </p:nvSpPr>
        <p:spPr>
          <a:xfrm>
            <a:off x="7855594" y="3646140"/>
            <a:ext cx="155495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EE4488FF-B790-9D0A-4C36-703465BF3EB3}"/>
              </a:ext>
            </a:extLst>
          </p:cNvPr>
          <p:cNvSpPr/>
          <p:nvPr/>
        </p:nvSpPr>
        <p:spPr>
          <a:xfrm>
            <a:off x="9410551" y="3646140"/>
            <a:ext cx="22099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AF716D0E-4CE8-252D-11AE-F0823501536C}"/>
              </a:ext>
            </a:extLst>
          </p:cNvPr>
          <p:cNvSpPr/>
          <p:nvPr/>
        </p:nvSpPr>
        <p:spPr>
          <a:xfrm>
            <a:off x="571500" y="4170015"/>
            <a:ext cx="327377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26BDC63E-B7B2-EAF1-BFEA-C5362F91BDDB}"/>
              </a:ext>
            </a:extLst>
          </p:cNvPr>
          <p:cNvSpPr/>
          <p:nvPr/>
        </p:nvSpPr>
        <p:spPr>
          <a:xfrm>
            <a:off x="3845272" y="4170015"/>
            <a:ext cx="20460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318046E3-D193-77F1-07FF-573C6F9A8CA8}"/>
              </a:ext>
            </a:extLst>
          </p:cNvPr>
          <p:cNvSpPr/>
          <p:nvPr/>
        </p:nvSpPr>
        <p:spPr>
          <a:xfrm>
            <a:off x="5891361" y="4170015"/>
            <a:ext cx="196423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>
            <a:extLst>
              <a:ext uri="{FF2B5EF4-FFF2-40B4-BE49-F238E27FC236}">
                <a16:creationId xmlns:a16="http://schemas.microsoft.com/office/drawing/2014/main" id="{34080710-84AA-F969-5B19-D824B101E47F}"/>
              </a:ext>
            </a:extLst>
          </p:cNvPr>
          <p:cNvSpPr/>
          <p:nvPr/>
        </p:nvSpPr>
        <p:spPr>
          <a:xfrm>
            <a:off x="7855594" y="4170015"/>
            <a:ext cx="155495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AD9B8B70-352C-EE71-1DFE-492E4D80B8F8}"/>
              </a:ext>
            </a:extLst>
          </p:cNvPr>
          <p:cNvSpPr/>
          <p:nvPr/>
        </p:nvSpPr>
        <p:spPr>
          <a:xfrm>
            <a:off x="9410551" y="4170015"/>
            <a:ext cx="22099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1CB3FD72-D4C8-7D3E-AD86-01DCDAAE82A2}"/>
              </a:ext>
            </a:extLst>
          </p:cNvPr>
          <p:cNvSpPr/>
          <p:nvPr/>
        </p:nvSpPr>
        <p:spPr>
          <a:xfrm>
            <a:off x="571500" y="4693890"/>
            <a:ext cx="327377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>
            <a:extLst>
              <a:ext uri="{FF2B5EF4-FFF2-40B4-BE49-F238E27FC236}">
                <a16:creationId xmlns:a16="http://schemas.microsoft.com/office/drawing/2014/main" id="{2528F16E-4B6D-D070-9F82-B31719A5C98C}"/>
              </a:ext>
            </a:extLst>
          </p:cNvPr>
          <p:cNvSpPr/>
          <p:nvPr/>
        </p:nvSpPr>
        <p:spPr>
          <a:xfrm>
            <a:off x="3845272" y="4693890"/>
            <a:ext cx="20460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>
            <a:extLst>
              <a:ext uri="{FF2B5EF4-FFF2-40B4-BE49-F238E27FC236}">
                <a16:creationId xmlns:a16="http://schemas.microsoft.com/office/drawing/2014/main" id="{81D98426-858E-EE6F-3686-EB1F0BDAA338}"/>
              </a:ext>
            </a:extLst>
          </p:cNvPr>
          <p:cNvSpPr/>
          <p:nvPr/>
        </p:nvSpPr>
        <p:spPr>
          <a:xfrm>
            <a:off x="5891361" y="4693890"/>
            <a:ext cx="196423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>
            <a:extLst>
              <a:ext uri="{FF2B5EF4-FFF2-40B4-BE49-F238E27FC236}">
                <a16:creationId xmlns:a16="http://schemas.microsoft.com/office/drawing/2014/main" id="{C37152F9-7F9E-A2D0-4A42-AB34974EB202}"/>
              </a:ext>
            </a:extLst>
          </p:cNvPr>
          <p:cNvSpPr/>
          <p:nvPr/>
        </p:nvSpPr>
        <p:spPr>
          <a:xfrm>
            <a:off x="7855594" y="4693890"/>
            <a:ext cx="155495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91162B96-AEE6-35A9-CCD7-3D791DF714DE}"/>
              </a:ext>
            </a:extLst>
          </p:cNvPr>
          <p:cNvSpPr/>
          <p:nvPr/>
        </p:nvSpPr>
        <p:spPr>
          <a:xfrm>
            <a:off x="9410551" y="4693890"/>
            <a:ext cx="22099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3F4A5D96-744F-3F7B-20A8-BF255B81695C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1E293B"/>
                </a:solidFill>
                <a:latin typeface="Poppins"/>
                <a:cs typeface="Poppins"/>
                <a:sym typeface="Poppins"/>
              </a:rPr>
              <a:t>Confusion Matrix</a:t>
            </a:r>
            <a:endParaRPr lang="en-US" dirty="0"/>
          </a:p>
        </p:txBody>
      </p:sp>
      <p:sp>
        <p:nvSpPr>
          <p:cNvPr id="179" name="Google Shape;179;p18">
            <a:extLst>
              <a:ext uri="{FF2B5EF4-FFF2-40B4-BE49-F238E27FC236}">
                <a16:creationId xmlns:a16="http://schemas.microsoft.com/office/drawing/2014/main" id="{50685D30-39D0-ED70-336E-3F945021D431}"/>
              </a:ext>
            </a:extLst>
          </p:cNvPr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5C270A-24EA-AD7D-51DF-D65D1F55B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407" y="1645285"/>
            <a:ext cx="4424045" cy="35674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5623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0062"/>
            <a:ext cx="5334000" cy="35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952499" y="2271117"/>
            <a:ext cx="891705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Simulation: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JSON file-based stream source to mimic production input.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952499" y="3145333"/>
            <a:ext cx="868845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Spark Structured Streaming: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Unified API for processing live data.</a:t>
            </a:r>
            <a:endParaRPr dirty="0"/>
          </a:p>
        </p:txBody>
      </p:sp>
      <p:sp>
        <p:nvSpPr>
          <p:cNvPr id="189" name="Google Shape;189;p19"/>
          <p:cNvSpPr txBox="1"/>
          <p:nvPr/>
        </p:nvSpPr>
        <p:spPr>
          <a:xfrm>
            <a:off x="952499" y="4019550"/>
            <a:ext cx="802253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Consistency: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Shared preprocessing pipeline between batch and stream.</a:t>
            </a:r>
            <a:endParaRPr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952499" y="4893766"/>
            <a:ext cx="786350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Achieved 100% accuracy on simulated test batches.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Streaming</a:t>
            </a:r>
            <a:endParaRPr dirty="0"/>
          </a:p>
        </p:txBody>
      </p:sp>
      <p:sp>
        <p:nvSpPr>
          <p:cNvPr id="192" name="Google Shape;192;p19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7111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4533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95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93766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0062"/>
            <a:ext cx="5334000" cy="35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85812" y="2129879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Power of Parallelism</a:t>
            </a:r>
            <a:endParaRPr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2525167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Inference time on test set (2,088 samples):</a:t>
            </a:r>
            <a:endParaRPr dirty="0"/>
          </a:p>
        </p:txBody>
      </p:sp>
      <p:sp>
        <p:nvSpPr>
          <p:cNvPr id="207" name="Google Shape;207;p20"/>
          <p:cNvSpPr txBox="1"/>
          <p:nvPr/>
        </p:nvSpPr>
        <p:spPr>
          <a:xfrm>
            <a:off x="872987" y="3429000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 Partitions: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0.389s</a:t>
            </a:r>
            <a:endParaRPr dirty="0"/>
          </a:p>
        </p:txBody>
      </p:sp>
      <p:sp>
        <p:nvSpPr>
          <p:cNvPr id="208" name="Google Shape;208;p20"/>
          <p:cNvSpPr txBox="1"/>
          <p:nvPr/>
        </p:nvSpPr>
        <p:spPr>
          <a:xfrm>
            <a:off x="872987" y="3980635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 Partitions: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0.150s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872987" y="4476750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 Partitions: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0.148s</a:t>
            </a:r>
            <a:endParaRPr dirty="0"/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Performance &amp; Scalability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0572C-7771-11E6-2EF0-BAA7A06B0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0" y="1800225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A8F3BFFA-F0C6-48A6-9405-D58ADC01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>
            <a:extLst>
              <a:ext uri="{FF2B5EF4-FFF2-40B4-BE49-F238E27FC236}">
                <a16:creationId xmlns:a16="http://schemas.microsoft.com/office/drawing/2014/main" id="{644735D2-073E-060D-4F08-0557F50EB9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>
            <a:extLst>
              <a:ext uri="{FF2B5EF4-FFF2-40B4-BE49-F238E27FC236}">
                <a16:creationId xmlns:a16="http://schemas.microsoft.com/office/drawing/2014/main" id="{86978DE9-110D-0E52-DB65-19BA9E00B4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0062"/>
            <a:ext cx="5334000" cy="35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>
            <a:extLst>
              <a:ext uri="{FF2B5EF4-FFF2-40B4-BE49-F238E27FC236}">
                <a16:creationId xmlns:a16="http://schemas.microsoft.com/office/drawing/2014/main" id="{E8844904-C5E3-1D57-5483-7C8F16873344}"/>
              </a:ext>
            </a:extLst>
          </p:cNvPr>
          <p:cNvSpPr txBox="1"/>
          <p:nvPr/>
        </p:nvSpPr>
        <p:spPr>
          <a:xfrm>
            <a:off x="785812" y="2129879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Power of Parallelism</a:t>
            </a:r>
            <a:endParaRPr dirty="0"/>
          </a:p>
        </p:txBody>
      </p:sp>
      <p:sp>
        <p:nvSpPr>
          <p:cNvPr id="205" name="Google Shape;205;p20">
            <a:extLst>
              <a:ext uri="{FF2B5EF4-FFF2-40B4-BE49-F238E27FC236}">
                <a16:creationId xmlns:a16="http://schemas.microsoft.com/office/drawing/2014/main" id="{08189E90-98EE-01F8-CD74-5CE5DD9F90B1}"/>
              </a:ext>
            </a:extLst>
          </p:cNvPr>
          <p:cNvSpPr txBox="1"/>
          <p:nvPr/>
        </p:nvSpPr>
        <p:spPr>
          <a:xfrm>
            <a:off x="571500" y="2525167"/>
            <a:ext cx="5334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 11 is more important than Feature 34</a:t>
            </a:r>
            <a:endParaRPr dirty="0"/>
          </a:p>
        </p:txBody>
      </p:sp>
      <p:sp>
        <p:nvSpPr>
          <p:cNvPr id="210" name="Google Shape;210;p20">
            <a:extLst>
              <a:ext uri="{FF2B5EF4-FFF2-40B4-BE49-F238E27FC236}">
                <a16:creationId xmlns:a16="http://schemas.microsoft.com/office/drawing/2014/main" id="{85BABB59-C204-A949-DE56-85116E1EED09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1E293B"/>
                </a:solidFill>
                <a:latin typeface="Poppins"/>
                <a:sym typeface="Poppins"/>
              </a:rPr>
              <a:t>Feature Importance </a:t>
            </a:r>
            <a:endParaRPr dirty="0"/>
          </a:p>
        </p:txBody>
      </p:sp>
      <p:sp>
        <p:nvSpPr>
          <p:cNvPr id="211" name="Google Shape;211;p20">
            <a:extLst>
              <a:ext uri="{FF2B5EF4-FFF2-40B4-BE49-F238E27FC236}">
                <a16:creationId xmlns:a16="http://schemas.microsoft.com/office/drawing/2014/main" id="{157EF035-F0AD-5D7F-75D5-673B7FD4ECFC}"/>
              </a:ext>
            </a:extLst>
          </p:cNvPr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37EC6D-930F-24D7-A5B9-50536C8AB9C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30" r="28416"/>
          <a:stretch>
            <a:fillRect/>
          </a:stretch>
        </p:blipFill>
        <p:spPr bwMode="auto">
          <a:xfrm>
            <a:off x="6206988" y="2322807"/>
            <a:ext cx="5112026" cy="28032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74066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932621" y="2210020"/>
            <a:ext cx="1015944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44"/>
              </a:lnSpc>
            </a:pPr>
            <a:r>
              <a:rPr lang="en-US" sz="1800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This project apply complete, scalable big data pipeline for Arabic AI-text detection. The Logistic Regression model, trained on a combination of TF-IDF and simple stylometric features, achieved strong performance (F1 &gt; 0.94) despite the dataset's imbalance. The implementation of a file-based stream processor validates the architecture's readiness for real-time or near-real-time applications in a production environment</a:t>
            </a:r>
            <a:endParaRPr sz="1800" dirty="0">
              <a:solidFill>
                <a:srgbClr val="33415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 &amp; Future Work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>
          <a:extLst>
            <a:ext uri="{FF2B5EF4-FFF2-40B4-BE49-F238E27FC236}">
              <a16:creationId xmlns:a16="http://schemas.microsoft.com/office/drawing/2014/main" id="{A1BDEA06-AC76-9971-EAE1-60EBFF31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>
            <a:extLst>
              <a:ext uri="{FF2B5EF4-FFF2-40B4-BE49-F238E27FC236}">
                <a16:creationId xmlns:a16="http://schemas.microsoft.com/office/drawing/2014/main" id="{10C5E3B2-EBB5-E551-36BD-97B58D52AB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09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>
            <a:extLst>
              <a:ext uri="{FF2B5EF4-FFF2-40B4-BE49-F238E27FC236}">
                <a16:creationId xmlns:a16="http://schemas.microsoft.com/office/drawing/2014/main" id="{BEFED9DB-0D9D-FDC6-F67B-EB3B415F1551}"/>
              </a:ext>
            </a:extLst>
          </p:cNvPr>
          <p:cNvSpPr txBox="1"/>
          <p:nvPr/>
        </p:nvSpPr>
        <p:spPr>
          <a:xfrm>
            <a:off x="247650" y="2490516"/>
            <a:ext cx="560070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 dirty="0"/>
          </a:p>
        </p:txBody>
      </p:sp>
      <p:sp>
        <p:nvSpPr>
          <p:cNvPr id="224" name="Google Shape;224;p21">
            <a:extLst>
              <a:ext uri="{FF2B5EF4-FFF2-40B4-BE49-F238E27FC236}">
                <a16:creationId xmlns:a16="http://schemas.microsoft.com/office/drawing/2014/main" id="{2B4FC881-024D-4EB3-07F0-8C15AB480A6A}"/>
              </a:ext>
            </a:extLst>
          </p:cNvPr>
          <p:cNvSpPr txBox="1"/>
          <p:nvPr/>
        </p:nvSpPr>
        <p:spPr>
          <a:xfrm>
            <a:off x="476249" y="3063329"/>
            <a:ext cx="827018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Hybrid Models: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Integrate AraBERT for deep semantic understanding.</a:t>
            </a:r>
            <a:endParaRPr dirty="0"/>
          </a:p>
        </p:txBody>
      </p:sp>
      <p:sp>
        <p:nvSpPr>
          <p:cNvPr id="225" name="Google Shape;225;p21">
            <a:extLst>
              <a:ext uri="{FF2B5EF4-FFF2-40B4-BE49-F238E27FC236}">
                <a16:creationId xmlns:a16="http://schemas.microsoft.com/office/drawing/2014/main" id="{C7352CE0-EA2C-7A7E-AD8F-C3E6F29D299D}"/>
              </a:ext>
            </a:extLst>
          </p:cNvPr>
          <p:cNvSpPr txBox="1"/>
          <p:nvPr/>
        </p:nvSpPr>
        <p:spPr>
          <a:xfrm>
            <a:off x="476249" y="4305312"/>
            <a:ext cx="710730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Attribute Classification: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Identify </a:t>
            </a:r>
            <a:r>
              <a:rPr lang="en-US" sz="18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which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 generated the text.</a:t>
            </a:r>
            <a:endParaRPr dirty="0"/>
          </a:p>
        </p:txBody>
      </p:sp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B82FDC66-DBB6-EF90-719D-56BA622B95C1}"/>
              </a:ext>
            </a:extLst>
          </p:cNvPr>
          <p:cNvSpPr txBox="1"/>
          <p:nvPr/>
        </p:nvSpPr>
        <p:spPr>
          <a:xfrm>
            <a:off x="571499" y="5439596"/>
            <a:ext cx="710730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Multi-domain: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Expand to social media and news detection.</a:t>
            </a:r>
            <a:endParaRPr dirty="0"/>
          </a:p>
        </p:txBody>
      </p:sp>
      <p:sp>
        <p:nvSpPr>
          <p:cNvPr id="227" name="Google Shape;227;p21">
            <a:extLst>
              <a:ext uri="{FF2B5EF4-FFF2-40B4-BE49-F238E27FC236}">
                <a16:creationId xmlns:a16="http://schemas.microsoft.com/office/drawing/2014/main" id="{C7C730FD-DEB7-EFAD-2AB8-928C8407CE3D}"/>
              </a:ext>
            </a:extLst>
          </p:cNvPr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 &amp; Future Work</a:t>
            </a:r>
            <a:endParaRPr/>
          </a:p>
        </p:txBody>
      </p:sp>
      <p:sp>
        <p:nvSpPr>
          <p:cNvPr id="228" name="Google Shape;228;p21">
            <a:extLst>
              <a:ext uri="{FF2B5EF4-FFF2-40B4-BE49-F238E27FC236}">
                <a16:creationId xmlns:a16="http://schemas.microsoft.com/office/drawing/2014/main" id="{DE3D7C4D-03A7-D842-9588-61AA40D2341D}"/>
              </a:ext>
            </a:extLst>
          </p:cNvPr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890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460</Words>
  <Application>Microsoft Office PowerPoint</Application>
  <PresentationFormat>Widescreen</PresentationFormat>
  <Paragraphs>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Lato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3 Z</cp:lastModifiedBy>
  <cp:revision>3</cp:revision>
  <dcterms:modified xsi:type="dcterms:W3CDTF">2026-05-18T20:37:35Z</dcterms:modified>
</cp:coreProperties>
</file>